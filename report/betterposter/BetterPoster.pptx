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50760313" cy="30275213"/>
  <p:notesSz cx="6858000" cy="9144000"/>
  <p:defaultTextStyle>
    <a:defPPr>
      <a:defRPr lang="de-DE"/>
    </a:defPPr>
    <a:lvl1pPr marL="0" algn="l" defTabSz="3889675" rtl="0" eaLnBrk="1" latinLnBrk="0" hangingPunct="1">
      <a:defRPr sz="7657" kern="1200">
        <a:solidFill>
          <a:schemeClr val="tx1"/>
        </a:solidFill>
        <a:latin typeface="+mn-lt"/>
        <a:ea typeface="+mn-ea"/>
        <a:cs typeface="+mn-cs"/>
      </a:defRPr>
    </a:lvl1pPr>
    <a:lvl2pPr marL="1944837" algn="l" defTabSz="3889675" rtl="0" eaLnBrk="1" latinLnBrk="0" hangingPunct="1">
      <a:defRPr sz="7657" kern="1200">
        <a:solidFill>
          <a:schemeClr val="tx1"/>
        </a:solidFill>
        <a:latin typeface="+mn-lt"/>
        <a:ea typeface="+mn-ea"/>
        <a:cs typeface="+mn-cs"/>
      </a:defRPr>
    </a:lvl2pPr>
    <a:lvl3pPr marL="3889675" algn="l" defTabSz="3889675" rtl="0" eaLnBrk="1" latinLnBrk="0" hangingPunct="1">
      <a:defRPr sz="7657" kern="1200">
        <a:solidFill>
          <a:schemeClr val="tx1"/>
        </a:solidFill>
        <a:latin typeface="+mn-lt"/>
        <a:ea typeface="+mn-ea"/>
        <a:cs typeface="+mn-cs"/>
      </a:defRPr>
    </a:lvl3pPr>
    <a:lvl4pPr marL="5834512" algn="l" defTabSz="3889675" rtl="0" eaLnBrk="1" latinLnBrk="0" hangingPunct="1">
      <a:defRPr sz="7657" kern="1200">
        <a:solidFill>
          <a:schemeClr val="tx1"/>
        </a:solidFill>
        <a:latin typeface="+mn-lt"/>
        <a:ea typeface="+mn-ea"/>
        <a:cs typeface="+mn-cs"/>
      </a:defRPr>
    </a:lvl4pPr>
    <a:lvl5pPr marL="7779349" algn="l" defTabSz="3889675" rtl="0" eaLnBrk="1" latinLnBrk="0" hangingPunct="1">
      <a:defRPr sz="7657" kern="1200">
        <a:solidFill>
          <a:schemeClr val="tx1"/>
        </a:solidFill>
        <a:latin typeface="+mn-lt"/>
        <a:ea typeface="+mn-ea"/>
        <a:cs typeface="+mn-cs"/>
      </a:defRPr>
    </a:lvl5pPr>
    <a:lvl6pPr marL="9724187" algn="l" defTabSz="3889675" rtl="0" eaLnBrk="1" latinLnBrk="0" hangingPunct="1">
      <a:defRPr sz="7657" kern="1200">
        <a:solidFill>
          <a:schemeClr val="tx1"/>
        </a:solidFill>
        <a:latin typeface="+mn-lt"/>
        <a:ea typeface="+mn-ea"/>
        <a:cs typeface="+mn-cs"/>
      </a:defRPr>
    </a:lvl6pPr>
    <a:lvl7pPr marL="11669024" algn="l" defTabSz="3889675" rtl="0" eaLnBrk="1" latinLnBrk="0" hangingPunct="1">
      <a:defRPr sz="7657" kern="1200">
        <a:solidFill>
          <a:schemeClr val="tx1"/>
        </a:solidFill>
        <a:latin typeface="+mn-lt"/>
        <a:ea typeface="+mn-ea"/>
        <a:cs typeface="+mn-cs"/>
      </a:defRPr>
    </a:lvl7pPr>
    <a:lvl8pPr marL="13613862" algn="l" defTabSz="3889675" rtl="0" eaLnBrk="1" latinLnBrk="0" hangingPunct="1">
      <a:defRPr sz="7657" kern="1200">
        <a:solidFill>
          <a:schemeClr val="tx1"/>
        </a:solidFill>
        <a:latin typeface="+mn-lt"/>
        <a:ea typeface="+mn-ea"/>
        <a:cs typeface="+mn-cs"/>
      </a:defRPr>
    </a:lvl8pPr>
    <a:lvl9pPr marL="15558699" algn="l" defTabSz="3889675" rtl="0" eaLnBrk="1" latinLnBrk="0" hangingPunct="1">
      <a:defRPr sz="765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354" userDrawn="1">
          <p15:clr>
            <a:srgbClr val="A4A3A4"/>
          </p15:clr>
        </p15:guide>
        <p15:guide id="2" pos="160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375E"/>
    <a:srgbClr val="A5CDF7"/>
    <a:srgbClr val="97B8DA"/>
    <a:srgbClr val="2A566E"/>
    <a:srgbClr val="C1DEEE"/>
    <a:srgbClr val="61C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59"/>
    <p:restoredTop sz="94658"/>
  </p:normalViewPr>
  <p:slideViewPr>
    <p:cSldViewPr snapToGrid="0" snapToObjects="1" showGuides="1">
      <p:cViewPr>
        <p:scale>
          <a:sx n="33" d="100"/>
          <a:sy n="33" d="100"/>
        </p:scale>
        <p:origin x="-688" y="168"/>
      </p:cViewPr>
      <p:guideLst>
        <p:guide orient="horz" pos="9354"/>
        <p:guide pos="160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15AE69-F112-2746-B200-8A3ED962D14C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41375" y="1143000"/>
            <a:ext cx="51752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E8BDF5-4B7B-5941-80BB-3069A0873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611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E8BDF5-4B7B-5941-80BB-3069A08733F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834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345039" y="4954765"/>
            <a:ext cx="38070235" cy="10540259"/>
          </a:xfrm>
        </p:spPr>
        <p:txBody>
          <a:bodyPr anchor="b"/>
          <a:lstStyle>
            <a:lvl1pPr algn="ctr">
              <a:defRPr sz="24980" b="1"/>
            </a:lvl1pPr>
          </a:lstStyle>
          <a:p>
            <a:r>
              <a:rPr lang="de-DE" dirty="0"/>
              <a:t>Main </a:t>
            </a:r>
            <a:r>
              <a:rPr lang="de-DE" dirty="0" err="1"/>
              <a:t>finding</a:t>
            </a:r>
            <a:r>
              <a:rPr lang="de-DE" dirty="0"/>
              <a:t> </a:t>
            </a: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here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45039" y="15901497"/>
            <a:ext cx="38070235" cy="7309499"/>
          </a:xfrm>
        </p:spPr>
        <p:txBody>
          <a:bodyPr/>
          <a:lstStyle>
            <a:lvl1pPr marL="0" indent="0" algn="ctr">
              <a:buNone/>
              <a:defRPr sz="9992"/>
            </a:lvl1pPr>
            <a:lvl2pPr marL="1903506" indent="0" algn="ctr">
              <a:buNone/>
              <a:defRPr sz="8327"/>
            </a:lvl2pPr>
            <a:lvl3pPr marL="3807013" indent="0" algn="ctr">
              <a:buNone/>
              <a:defRPr sz="7494"/>
            </a:lvl3pPr>
            <a:lvl4pPr marL="5710519" indent="0" algn="ctr">
              <a:buNone/>
              <a:defRPr sz="6661"/>
            </a:lvl4pPr>
            <a:lvl5pPr marL="7614026" indent="0" algn="ctr">
              <a:buNone/>
              <a:defRPr sz="6661"/>
            </a:lvl5pPr>
            <a:lvl6pPr marL="9517532" indent="0" algn="ctr">
              <a:buNone/>
              <a:defRPr sz="6661"/>
            </a:lvl6pPr>
            <a:lvl7pPr marL="11421039" indent="0" algn="ctr">
              <a:buNone/>
              <a:defRPr sz="6661"/>
            </a:lvl7pPr>
            <a:lvl8pPr marL="13324545" indent="0" algn="ctr">
              <a:buNone/>
              <a:defRPr sz="6661"/>
            </a:lvl8pPr>
            <a:lvl9pPr marL="15228052" indent="0" algn="ctr">
              <a:buNone/>
              <a:defRPr sz="6661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5291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224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3334" y="7547783"/>
            <a:ext cx="43780770" cy="12593645"/>
          </a:xfrm>
        </p:spPr>
        <p:txBody>
          <a:bodyPr anchor="b"/>
          <a:lstStyle>
            <a:lvl1pPr>
              <a:defRPr sz="2498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3334" y="20260569"/>
            <a:ext cx="43780770" cy="6622701"/>
          </a:xfrm>
        </p:spPr>
        <p:txBody>
          <a:bodyPr/>
          <a:lstStyle>
            <a:lvl1pPr marL="0" indent="0">
              <a:buNone/>
              <a:defRPr sz="9992">
                <a:solidFill>
                  <a:schemeClr val="tx1">
                    <a:tint val="75000"/>
                  </a:schemeClr>
                </a:solidFill>
              </a:defRPr>
            </a:lvl1pPr>
            <a:lvl2pPr marL="1903506" indent="0">
              <a:buNone/>
              <a:defRPr sz="8327">
                <a:solidFill>
                  <a:schemeClr val="tx1">
                    <a:tint val="75000"/>
                  </a:schemeClr>
                </a:solidFill>
              </a:defRPr>
            </a:lvl2pPr>
            <a:lvl3pPr marL="3807013" indent="0">
              <a:buNone/>
              <a:defRPr sz="7494">
                <a:solidFill>
                  <a:schemeClr val="tx1">
                    <a:tint val="75000"/>
                  </a:schemeClr>
                </a:solidFill>
              </a:defRPr>
            </a:lvl3pPr>
            <a:lvl4pPr marL="5710519" indent="0">
              <a:buNone/>
              <a:defRPr sz="6661">
                <a:solidFill>
                  <a:schemeClr val="tx1">
                    <a:tint val="75000"/>
                  </a:schemeClr>
                </a:solidFill>
              </a:defRPr>
            </a:lvl4pPr>
            <a:lvl5pPr marL="7614026" indent="0">
              <a:buNone/>
              <a:defRPr sz="6661">
                <a:solidFill>
                  <a:schemeClr val="tx1">
                    <a:tint val="75000"/>
                  </a:schemeClr>
                </a:solidFill>
              </a:defRPr>
            </a:lvl5pPr>
            <a:lvl6pPr marL="9517532" indent="0">
              <a:buNone/>
              <a:defRPr sz="6661">
                <a:solidFill>
                  <a:schemeClr val="tx1">
                    <a:tint val="75000"/>
                  </a:schemeClr>
                </a:solidFill>
              </a:defRPr>
            </a:lvl6pPr>
            <a:lvl7pPr marL="11421039" indent="0">
              <a:buNone/>
              <a:defRPr sz="6661">
                <a:solidFill>
                  <a:schemeClr val="tx1">
                    <a:tint val="75000"/>
                  </a:schemeClr>
                </a:solidFill>
              </a:defRPr>
            </a:lvl7pPr>
            <a:lvl8pPr marL="13324545" indent="0">
              <a:buNone/>
              <a:defRPr sz="6661">
                <a:solidFill>
                  <a:schemeClr val="tx1">
                    <a:tint val="75000"/>
                  </a:schemeClr>
                </a:solidFill>
              </a:defRPr>
            </a:lvl8pPr>
            <a:lvl9pPr marL="15228052" indent="0">
              <a:buNone/>
              <a:defRPr sz="66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7363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89772" y="8059374"/>
            <a:ext cx="21573133" cy="19209345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97408" y="8059374"/>
            <a:ext cx="21573133" cy="19209345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1947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6383" y="1611877"/>
            <a:ext cx="43780770" cy="585180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96385" y="7421634"/>
            <a:ext cx="21473990" cy="3637228"/>
          </a:xfrm>
        </p:spPr>
        <p:txBody>
          <a:bodyPr anchor="b"/>
          <a:lstStyle>
            <a:lvl1pPr marL="0" indent="0">
              <a:buNone/>
              <a:defRPr sz="9992" b="1"/>
            </a:lvl1pPr>
            <a:lvl2pPr marL="1903506" indent="0">
              <a:buNone/>
              <a:defRPr sz="8327" b="1"/>
            </a:lvl2pPr>
            <a:lvl3pPr marL="3807013" indent="0">
              <a:buNone/>
              <a:defRPr sz="7494" b="1"/>
            </a:lvl3pPr>
            <a:lvl4pPr marL="5710519" indent="0">
              <a:buNone/>
              <a:defRPr sz="6661" b="1"/>
            </a:lvl4pPr>
            <a:lvl5pPr marL="7614026" indent="0">
              <a:buNone/>
              <a:defRPr sz="6661" b="1"/>
            </a:lvl5pPr>
            <a:lvl6pPr marL="9517532" indent="0">
              <a:buNone/>
              <a:defRPr sz="6661" b="1"/>
            </a:lvl6pPr>
            <a:lvl7pPr marL="11421039" indent="0">
              <a:buNone/>
              <a:defRPr sz="6661" b="1"/>
            </a:lvl7pPr>
            <a:lvl8pPr marL="13324545" indent="0">
              <a:buNone/>
              <a:defRPr sz="6661" b="1"/>
            </a:lvl8pPr>
            <a:lvl9pPr marL="15228052" indent="0">
              <a:buNone/>
              <a:defRPr sz="6661" b="1"/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96385" y="11058863"/>
            <a:ext cx="21473990" cy="16265921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697408" y="7421634"/>
            <a:ext cx="21579745" cy="3637228"/>
          </a:xfrm>
        </p:spPr>
        <p:txBody>
          <a:bodyPr anchor="b"/>
          <a:lstStyle>
            <a:lvl1pPr marL="0" indent="0">
              <a:buNone/>
              <a:defRPr sz="9992" b="1"/>
            </a:lvl1pPr>
            <a:lvl2pPr marL="1903506" indent="0">
              <a:buNone/>
              <a:defRPr sz="8327" b="1"/>
            </a:lvl2pPr>
            <a:lvl3pPr marL="3807013" indent="0">
              <a:buNone/>
              <a:defRPr sz="7494" b="1"/>
            </a:lvl3pPr>
            <a:lvl4pPr marL="5710519" indent="0">
              <a:buNone/>
              <a:defRPr sz="6661" b="1"/>
            </a:lvl4pPr>
            <a:lvl5pPr marL="7614026" indent="0">
              <a:buNone/>
              <a:defRPr sz="6661" b="1"/>
            </a:lvl5pPr>
            <a:lvl6pPr marL="9517532" indent="0">
              <a:buNone/>
              <a:defRPr sz="6661" b="1"/>
            </a:lvl6pPr>
            <a:lvl7pPr marL="11421039" indent="0">
              <a:buNone/>
              <a:defRPr sz="6661" b="1"/>
            </a:lvl7pPr>
            <a:lvl8pPr marL="13324545" indent="0">
              <a:buNone/>
              <a:defRPr sz="6661" b="1"/>
            </a:lvl8pPr>
            <a:lvl9pPr marL="15228052" indent="0">
              <a:buNone/>
              <a:defRPr sz="6661" b="1"/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697408" y="11058863"/>
            <a:ext cx="21579745" cy="16265921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4648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1799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1679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6385" y="2018348"/>
            <a:ext cx="16371521" cy="7064216"/>
          </a:xfrm>
        </p:spPr>
        <p:txBody>
          <a:bodyPr anchor="b"/>
          <a:lstStyle>
            <a:lvl1pPr>
              <a:defRPr sz="1332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79745" y="4359072"/>
            <a:ext cx="25697408" cy="21515024"/>
          </a:xfrm>
        </p:spPr>
        <p:txBody>
          <a:bodyPr/>
          <a:lstStyle>
            <a:lvl1pPr>
              <a:defRPr sz="13323"/>
            </a:lvl1pPr>
            <a:lvl2pPr>
              <a:defRPr sz="11658"/>
            </a:lvl2pPr>
            <a:lvl3pPr>
              <a:defRPr sz="9992"/>
            </a:lvl3pPr>
            <a:lvl4pPr>
              <a:defRPr sz="8327"/>
            </a:lvl4pPr>
            <a:lvl5pPr>
              <a:defRPr sz="8327"/>
            </a:lvl5pPr>
            <a:lvl6pPr>
              <a:defRPr sz="8327"/>
            </a:lvl6pPr>
            <a:lvl7pPr>
              <a:defRPr sz="8327"/>
            </a:lvl7pPr>
            <a:lvl8pPr>
              <a:defRPr sz="8327"/>
            </a:lvl8pPr>
            <a:lvl9pPr>
              <a:defRPr sz="8327"/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96385" y="9082564"/>
            <a:ext cx="16371521" cy="16826573"/>
          </a:xfrm>
        </p:spPr>
        <p:txBody>
          <a:bodyPr/>
          <a:lstStyle>
            <a:lvl1pPr marL="0" indent="0">
              <a:buNone/>
              <a:defRPr sz="6661"/>
            </a:lvl1pPr>
            <a:lvl2pPr marL="1903506" indent="0">
              <a:buNone/>
              <a:defRPr sz="5829"/>
            </a:lvl2pPr>
            <a:lvl3pPr marL="3807013" indent="0">
              <a:buNone/>
              <a:defRPr sz="4996"/>
            </a:lvl3pPr>
            <a:lvl4pPr marL="5710519" indent="0">
              <a:buNone/>
              <a:defRPr sz="4163"/>
            </a:lvl4pPr>
            <a:lvl5pPr marL="7614026" indent="0">
              <a:buNone/>
              <a:defRPr sz="4163"/>
            </a:lvl5pPr>
            <a:lvl6pPr marL="9517532" indent="0">
              <a:buNone/>
              <a:defRPr sz="4163"/>
            </a:lvl6pPr>
            <a:lvl7pPr marL="11421039" indent="0">
              <a:buNone/>
              <a:defRPr sz="4163"/>
            </a:lvl7pPr>
            <a:lvl8pPr marL="13324545" indent="0">
              <a:buNone/>
              <a:defRPr sz="4163"/>
            </a:lvl8pPr>
            <a:lvl9pPr marL="15228052" indent="0">
              <a:buNone/>
              <a:defRPr sz="4163"/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196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6385" y="2018348"/>
            <a:ext cx="16371521" cy="7064216"/>
          </a:xfrm>
        </p:spPr>
        <p:txBody>
          <a:bodyPr anchor="b"/>
          <a:lstStyle>
            <a:lvl1pPr>
              <a:defRPr sz="1332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579745" y="4359072"/>
            <a:ext cx="25697408" cy="21515024"/>
          </a:xfrm>
        </p:spPr>
        <p:txBody>
          <a:bodyPr anchor="t"/>
          <a:lstStyle>
            <a:lvl1pPr marL="0" indent="0">
              <a:buNone/>
              <a:defRPr sz="13323"/>
            </a:lvl1pPr>
            <a:lvl2pPr marL="1903506" indent="0">
              <a:buNone/>
              <a:defRPr sz="11658"/>
            </a:lvl2pPr>
            <a:lvl3pPr marL="3807013" indent="0">
              <a:buNone/>
              <a:defRPr sz="9992"/>
            </a:lvl3pPr>
            <a:lvl4pPr marL="5710519" indent="0">
              <a:buNone/>
              <a:defRPr sz="8327"/>
            </a:lvl4pPr>
            <a:lvl5pPr marL="7614026" indent="0">
              <a:buNone/>
              <a:defRPr sz="8327"/>
            </a:lvl5pPr>
            <a:lvl6pPr marL="9517532" indent="0">
              <a:buNone/>
              <a:defRPr sz="8327"/>
            </a:lvl6pPr>
            <a:lvl7pPr marL="11421039" indent="0">
              <a:buNone/>
              <a:defRPr sz="8327"/>
            </a:lvl7pPr>
            <a:lvl8pPr marL="13324545" indent="0">
              <a:buNone/>
              <a:defRPr sz="8327"/>
            </a:lvl8pPr>
            <a:lvl9pPr marL="15228052" indent="0">
              <a:buNone/>
              <a:defRPr sz="8327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96385" y="9082564"/>
            <a:ext cx="16371521" cy="16826573"/>
          </a:xfrm>
        </p:spPr>
        <p:txBody>
          <a:bodyPr/>
          <a:lstStyle>
            <a:lvl1pPr marL="0" indent="0">
              <a:buNone/>
              <a:defRPr sz="6661"/>
            </a:lvl1pPr>
            <a:lvl2pPr marL="1903506" indent="0">
              <a:buNone/>
              <a:defRPr sz="5829"/>
            </a:lvl2pPr>
            <a:lvl3pPr marL="3807013" indent="0">
              <a:buNone/>
              <a:defRPr sz="4996"/>
            </a:lvl3pPr>
            <a:lvl4pPr marL="5710519" indent="0">
              <a:buNone/>
              <a:defRPr sz="4163"/>
            </a:lvl4pPr>
            <a:lvl5pPr marL="7614026" indent="0">
              <a:buNone/>
              <a:defRPr sz="4163"/>
            </a:lvl5pPr>
            <a:lvl6pPr marL="9517532" indent="0">
              <a:buNone/>
              <a:defRPr sz="4163"/>
            </a:lvl6pPr>
            <a:lvl7pPr marL="11421039" indent="0">
              <a:buNone/>
              <a:defRPr sz="4163"/>
            </a:lvl7pPr>
            <a:lvl8pPr marL="13324545" indent="0">
              <a:buNone/>
              <a:defRPr sz="4163"/>
            </a:lvl8pPr>
            <a:lvl9pPr marL="15228052" indent="0">
              <a:buNone/>
              <a:defRPr sz="4163"/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6484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3826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325349" y="1611875"/>
            <a:ext cx="10945192" cy="2565684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89771" y="1611875"/>
            <a:ext cx="32201074" cy="25656844"/>
          </a:xfrm>
        </p:spPr>
        <p:txBody>
          <a:bodyPr vert="eaVert"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B3399-2F7C-0249-BC81-4008E155B99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5220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89772" y="1611877"/>
            <a:ext cx="43780770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89772" y="8059374"/>
            <a:ext cx="43780770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89772" y="28060639"/>
            <a:ext cx="11421070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9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3399-2F7C-0249-BC81-4008E155B995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814354" y="28060639"/>
            <a:ext cx="1713160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9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849471" y="28060639"/>
            <a:ext cx="11421070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9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80662-BD39-B64A-8021-45AB68B0D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5259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807013" rtl="0" eaLnBrk="1" latinLnBrk="0" hangingPunct="1">
        <a:lnSpc>
          <a:spcPct val="90000"/>
        </a:lnSpc>
        <a:spcBef>
          <a:spcPct val="0"/>
        </a:spcBef>
        <a:buNone/>
        <a:defRPr sz="183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51753" indent="-951753" algn="l" defTabSz="3807013" rtl="0" eaLnBrk="1" latinLnBrk="0" hangingPunct="1">
        <a:lnSpc>
          <a:spcPct val="90000"/>
        </a:lnSpc>
        <a:spcBef>
          <a:spcPts val="4163"/>
        </a:spcBef>
        <a:buFont typeface="Arial" panose="020B0604020202020204" pitchFamily="34" charset="0"/>
        <a:buChar char="•"/>
        <a:defRPr sz="11658" kern="1200">
          <a:solidFill>
            <a:schemeClr val="tx1"/>
          </a:solidFill>
          <a:latin typeface="+mn-lt"/>
          <a:ea typeface="+mn-ea"/>
          <a:cs typeface="+mn-cs"/>
        </a:defRPr>
      </a:lvl1pPr>
      <a:lvl2pPr marL="2855260" indent="-951753" algn="l" defTabSz="3807013" rtl="0" eaLnBrk="1" latinLnBrk="0" hangingPunct="1">
        <a:lnSpc>
          <a:spcPct val="90000"/>
        </a:lnSpc>
        <a:spcBef>
          <a:spcPts val="2082"/>
        </a:spcBef>
        <a:buFont typeface="Arial" panose="020B0604020202020204" pitchFamily="34" charset="0"/>
        <a:buChar char="•"/>
        <a:defRPr sz="9992" kern="1200">
          <a:solidFill>
            <a:schemeClr val="tx1"/>
          </a:solidFill>
          <a:latin typeface="+mn-lt"/>
          <a:ea typeface="+mn-ea"/>
          <a:cs typeface="+mn-cs"/>
        </a:defRPr>
      </a:lvl2pPr>
      <a:lvl3pPr marL="4758766" indent="-951753" algn="l" defTabSz="3807013" rtl="0" eaLnBrk="1" latinLnBrk="0" hangingPunct="1">
        <a:lnSpc>
          <a:spcPct val="90000"/>
        </a:lnSpc>
        <a:spcBef>
          <a:spcPts val="2082"/>
        </a:spcBef>
        <a:buFont typeface="Arial" panose="020B0604020202020204" pitchFamily="34" charset="0"/>
        <a:buChar char="•"/>
        <a:defRPr sz="8327" kern="1200">
          <a:solidFill>
            <a:schemeClr val="tx1"/>
          </a:solidFill>
          <a:latin typeface="+mn-lt"/>
          <a:ea typeface="+mn-ea"/>
          <a:cs typeface="+mn-cs"/>
        </a:defRPr>
      </a:lvl3pPr>
      <a:lvl4pPr marL="6662273" indent="-951753" algn="l" defTabSz="3807013" rtl="0" eaLnBrk="1" latinLnBrk="0" hangingPunct="1">
        <a:lnSpc>
          <a:spcPct val="90000"/>
        </a:lnSpc>
        <a:spcBef>
          <a:spcPts val="2082"/>
        </a:spcBef>
        <a:buFont typeface="Arial" panose="020B0604020202020204" pitchFamily="34" charset="0"/>
        <a:buChar char="•"/>
        <a:defRPr sz="7494" kern="1200">
          <a:solidFill>
            <a:schemeClr val="tx1"/>
          </a:solidFill>
          <a:latin typeface="+mn-lt"/>
          <a:ea typeface="+mn-ea"/>
          <a:cs typeface="+mn-cs"/>
        </a:defRPr>
      </a:lvl4pPr>
      <a:lvl5pPr marL="8565779" indent="-951753" algn="l" defTabSz="3807013" rtl="0" eaLnBrk="1" latinLnBrk="0" hangingPunct="1">
        <a:lnSpc>
          <a:spcPct val="90000"/>
        </a:lnSpc>
        <a:spcBef>
          <a:spcPts val="2082"/>
        </a:spcBef>
        <a:buFont typeface="Arial" panose="020B0604020202020204" pitchFamily="34" charset="0"/>
        <a:buChar char="•"/>
        <a:defRPr sz="7494" kern="1200">
          <a:solidFill>
            <a:schemeClr val="tx1"/>
          </a:solidFill>
          <a:latin typeface="+mn-lt"/>
          <a:ea typeface="+mn-ea"/>
          <a:cs typeface="+mn-cs"/>
        </a:defRPr>
      </a:lvl5pPr>
      <a:lvl6pPr marL="10469286" indent="-951753" algn="l" defTabSz="3807013" rtl="0" eaLnBrk="1" latinLnBrk="0" hangingPunct="1">
        <a:lnSpc>
          <a:spcPct val="90000"/>
        </a:lnSpc>
        <a:spcBef>
          <a:spcPts val="2082"/>
        </a:spcBef>
        <a:buFont typeface="Arial" panose="020B0604020202020204" pitchFamily="34" charset="0"/>
        <a:buChar char="•"/>
        <a:defRPr sz="7494" kern="1200">
          <a:solidFill>
            <a:schemeClr val="tx1"/>
          </a:solidFill>
          <a:latin typeface="+mn-lt"/>
          <a:ea typeface="+mn-ea"/>
          <a:cs typeface="+mn-cs"/>
        </a:defRPr>
      </a:lvl6pPr>
      <a:lvl7pPr marL="12372792" indent="-951753" algn="l" defTabSz="3807013" rtl="0" eaLnBrk="1" latinLnBrk="0" hangingPunct="1">
        <a:lnSpc>
          <a:spcPct val="90000"/>
        </a:lnSpc>
        <a:spcBef>
          <a:spcPts val="2082"/>
        </a:spcBef>
        <a:buFont typeface="Arial" panose="020B0604020202020204" pitchFamily="34" charset="0"/>
        <a:buChar char="•"/>
        <a:defRPr sz="7494" kern="1200">
          <a:solidFill>
            <a:schemeClr val="tx1"/>
          </a:solidFill>
          <a:latin typeface="+mn-lt"/>
          <a:ea typeface="+mn-ea"/>
          <a:cs typeface="+mn-cs"/>
        </a:defRPr>
      </a:lvl7pPr>
      <a:lvl8pPr marL="14276299" indent="-951753" algn="l" defTabSz="3807013" rtl="0" eaLnBrk="1" latinLnBrk="0" hangingPunct="1">
        <a:lnSpc>
          <a:spcPct val="90000"/>
        </a:lnSpc>
        <a:spcBef>
          <a:spcPts val="2082"/>
        </a:spcBef>
        <a:buFont typeface="Arial" panose="020B0604020202020204" pitchFamily="34" charset="0"/>
        <a:buChar char="•"/>
        <a:defRPr sz="7494" kern="1200">
          <a:solidFill>
            <a:schemeClr val="tx1"/>
          </a:solidFill>
          <a:latin typeface="+mn-lt"/>
          <a:ea typeface="+mn-ea"/>
          <a:cs typeface="+mn-cs"/>
        </a:defRPr>
      </a:lvl8pPr>
      <a:lvl9pPr marL="16179805" indent="-951753" algn="l" defTabSz="3807013" rtl="0" eaLnBrk="1" latinLnBrk="0" hangingPunct="1">
        <a:lnSpc>
          <a:spcPct val="90000"/>
        </a:lnSpc>
        <a:spcBef>
          <a:spcPts val="2082"/>
        </a:spcBef>
        <a:buFont typeface="Arial" panose="020B0604020202020204" pitchFamily="34" charset="0"/>
        <a:buChar char="•"/>
        <a:defRPr sz="74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7013" rtl="0" eaLnBrk="1" latinLnBrk="0" hangingPunct="1">
        <a:defRPr sz="7494" kern="1200">
          <a:solidFill>
            <a:schemeClr val="tx1"/>
          </a:solidFill>
          <a:latin typeface="+mn-lt"/>
          <a:ea typeface="+mn-ea"/>
          <a:cs typeface="+mn-cs"/>
        </a:defRPr>
      </a:lvl1pPr>
      <a:lvl2pPr marL="1903506" algn="l" defTabSz="3807013" rtl="0" eaLnBrk="1" latinLnBrk="0" hangingPunct="1">
        <a:defRPr sz="7494" kern="1200">
          <a:solidFill>
            <a:schemeClr val="tx1"/>
          </a:solidFill>
          <a:latin typeface="+mn-lt"/>
          <a:ea typeface="+mn-ea"/>
          <a:cs typeface="+mn-cs"/>
        </a:defRPr>
      </a:lvl2pPr>
      <a:lvl3pPr marL="3807013" algn="l" defTabSz="3807013" rtl="0" eaLnBrk="1" latinLnBrk="0" hangingPunct="1">
        <a:defRPr sz="7494" kern="1200">
          <a:solidFill>
            <a:schemeClr val="tx1"/>
          </a:solidFill>
          <a:latin typeface="+mn-lt"/>
          <a:ea typeface="+mn-ea"/>
          <a:cs typeface="+mn-cs"/>
        </a:defRPr>
      </a:lvl3pPr>
      <a:lvl4pPr marL="5710519" algn="l" defTabSz="3807013" rtl="0" eaLnBrk="1" latinLnBrk="0" hangingPunct="1">
        <a:defRPr sz="7494" kern="1200">
          <a:solidFill>
            <a:schemeClr val="tx1"/>
          </a:solidFill>
          <a:latin typeface="+mn-lt"/>
          <a:ea typeface="+mn-ea"/>
          <a:cs typeface="+mn-cs"/>
        </a:defRPr>
      </a:lvl4pPr>
      <a:lvl5pPr marL="7614026" algn="l" defTabSz="3807013" rtl="0" eaLnBrk="1" latinLnBrk="0" hangingPunct="1">
        <a:defRPr sz="7494" kern="1200">
          <a:solidFill>
            <a:schemeClr val="tx1"/>
          </a:solidFill>
          <a:latin typeface="+mn-lt"/>
          <a:ea typeface="+mn-ea"/>
          <a:cs typeface="+mn-cs"/>
        </a:defRPr>
      </a:lvl5pPr>
      <a:lvl6pPr marL="9517532" algn="l" defTabSz="3807013" rtl="0" eaLnBrk="1" latinLnBrk="0" hangingPunct="1">
        <a:defRPr sz="7494" kern="1200">
          <a:solidFill>
            <a:schemeClr val="tx1"/>
          </a:solidFill>
          <a:latin typeface="+mn-lt"/>
          <a:ea typeface="+mn-ea"/>
          <a:cs typeface="+mn-cs"/>
        </a:defRPr>
      </a:lvl6pPr>
      <a:lvl7pPr marL="11421039" algn="l" defTabSz="3807013" rtl="0" eaLnBrk="1" latinLnBrk="0" hangingPunct="1">
        <a:defRPr sz="7494" kern="1200">
          <a:solidFill>
            <a:schemeClr val="tx1"/>
          </a:solidFill>
          <a:latin typeface="+mn-lt"/>
          <a:ea typeface="+mn-ea"/>
          <a:cs typeface="+mn-cs"/>
        </a:defRPr>
      </a:lvl7pPr>
      <a:lvl8pPr marL="13324545" algn="l" defTabSz="3807013" rtl="0" eaLnBrk="1" latinLnBrk="0" hangingPunct="1">
        <a:defRPr sz="7494" kern="1200">
          <a:solidFill>
            <a:schemeClr val="tx1"/>
          </a:solidFill>
          <a:latin typeface="+mn-lt"/>
          <a:ea typeface="+mn-ea"/>
          <a:cs typeface="+mn-cs"/>
        </a:defRPr>
      </a:lvl8pPr>
      <a:lvl9pPr marL="15228052" algn="l" defTabSz="3807013" rtl="0" eaLnBrk="1" latinLnBrk="0" hangingPunct="1">
        <a:defRPr sz="74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collage of x-ray images&#10;&#10;AI-generated content may be incorrect.">
            <a:extLst>
              <a:ext uri="{FF2B5EF4-FFF2-40B4-BE49-F238E27FC236}">
                <a16:creationId xmlns:a16="http://schemas.microsoft.com/office/drawing/2014/main" id="{064D2C21-F2A3-BC57-C048-61755D905A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803"/>
          <a:stretch>
            <a:fillRect/>
          </a:stretch>
        </p:blipFill>
        <p:spPr>
          <a:xfrm>
            <a:off x="39536463" y="19587453"/>
            <a:ext cx="11178245" cy="8900093"/>
          </a:xfrm>
          <a:prstGeom prst="rect">
            <a:avLst/>
          </a:prstGeom>
        </p:spPr>
      </p:pic>
      <p:sp>
        <p:nvSpPr>
          <p:cNvPr id="22" name="Abgerundetes Rechteck 21">
            <a:extLst>
              <a:ext uri="{FF2B5EF4-FFF2-40B4-BE49-F238E27FC236}">
                <a16:creationId xmlns:a16="http://schemas.microsoft.com/office/drawing/2014/main" id="{4A3C98F6-3883-5444-8D1E-DEBEF5E974D6}"/>
              </a:ext>
            </a:extLst>
          </p:cNvPr>
          <p:cNvSpPr/>
          <p:nvPr/>
        </p:nvSpPr>
        <p:spPr>
          <a:xfrm>
            <a:off x="9926439" y="838674"/>
            <a:ext cx="30114240" cy="28597861"/>
          </a:xfrm>
          <a:prstGeom prst="roundRect">
            <a:avLst>
              <a:gd name="adj" fmla="val 1512"/>
            </a:avLst>
          </a:prstGeom>
          <a:solidFill>
            <a:srgbClr val="0D375E"/>
          </a:solidFill>
          <a:ln>
            <a:noFill/>
          </a:ln>
          <a:effectLst>
            <a:outerShdw blurRad="495300" dist="292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BA19D-2AE8-D04F-81CF-55AE761B167F}"/>
              </a:ext>
            </a:extLst>
          </p:cNvPr>
          <p:cNvSpPr txBox="1"/>
          <p:nvPr/>
        </p:nvSpPr>
        <p:spPr>
          <a:xfrm>
            <a:off x="594360" y="1097280"/>
            <a:ext cx="8982777" cy="29111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COMPLEX-VALUED CNNS FOR MRI           RECONSTRUCTION</a:t>
            </a:r>
          </a:p>
          <a:p>
            <a:r>
              <a:rPr lang="en-GB" sz="4800" i="1" dirty="0">
                <a:solidFill>
                  <a:srgbClr val="0D375E"/>
                </a:solidFill>
              </a:rPr>
              <a:t>Giovanni De Geronimo</a:t>
            </a:r>
          </a:p>
          <a:p>
            <a:endParaRPr lang="en-GB" sz="4800" i="1" dirty="0">
              <a:solidFill>
                <a:srgbClr val="0D375E"/>
              </a:solidFill>
            </a:endParaRPr>
          </a:p>
          <a:p>
            <a:r>
              <a:rPr lang="en-GB" sz="4800" b="1" dirty="0"/>
              <a:t>Intro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en-GB" sz="4000" b="1" dirty="0" err="1">
                <a:sym typeface="Wingdings" pitchFamily="2" charset="2"/>
              </a:rPr>
              <a:t>Undersampled</a:t>
            </a:r>
            <a:r>
              <a:rPr lang="en-GB" sz="4000" b="1" dirty="0">
                <a:sym typeface="Wingdings" pitchFamily="2" charset="2"/>
              </a:rPr>
              <a:t> MRI</a:t>
            </a:r>
            <a:r>
              <a:rPr lang="en-GB" sz="4000" dirty="0">
                <a:sym typeface="Wingdings" pitchFamily="2" charset="2"/>
              </a:rPr>
              <a:t> leaves zero-fill reconstructions </a:t>
            </a:r>
            <a:r>
              <a:rPr lang="en-GB" sz="4000" b="1" dirty="0">
                <a:sym typeface="Wingdings" pitchFamily="2" charset="2"/>
              </a:rPr>
              <a:t>blurry</a:t>
            </a:r>
            <a:r>
              <a:rPr lang="en-GB" sz="4000" dirty="0">
                <a:sym typeface="Wingdings" pitchFamily="2" charset="2"/>
              </a:rPr>
              <a:t> and ringing.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en-GB" sz="4000" dirty="0">
                <a:sym typeface="Wingdings" pitchFamily="2" charset="2"/>
              </a:rPr>
              <a:t>Cole et al. claim </a:t>
            </a:r>
            <a:r>
              <a:rPr lang="en-GB" sz="4000" b="1" dirty="0">
                <a:sym typeface="Wingdings" pitchFamily="2" charset="2"/>
              </a:rPr>
              <a:t>capacity-matched complex CNNs can beat real CNNs </a:t>
            </a:r>
            <a:r>
              <a:rPr lang="en-GB" sz="4000" dirty="0">
                <a:sym typeface="Wingdings" pitchFamily="2" charset="2"/>
              </a:rPr>
              <a:t>on MRI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en-GB" sz="4000" b="1" dirty="0">
                <a:sym typeface="Wingdings" pitchFamily="2" charset="2"/>
              </a:rPr>
              <a:t>Goal</a:t>
            </a:r>
            <a:r>
              <a:rPr lang="en-GB" sz="4000" dirty="0">
                <a:sym typeface="Wingdings" pitchFamily="2" charset="2"/>
              </a:rPr>
              <a:t>: tiny </a:t>
            </a:r>
            <a:r>
              <a:rPr lang="en-GB" sz="4000" b="1" dirty="0">
                <a:sym typeface="Wingdings" pitchFamily="2" charset="2"/>
              </a:rPr>
              <a:t>reproduction</a:t>
            </a:r>
            <a:r>
              <a:rPr lang="en-GB" sz="4000" dirty="0">
                <a:sym typeface="Wingdings" pitchFamily="2" charset="2"/>
              </a:rPr>
              <a:t> on </a:t>
            </a:r>
            <a:r>
              <a:rPr lang="en-GB" sz="4000" dirty="0" err="1">
                <a:sym typeface="Wingdings" pitchFamily="2" charset="2"/>
              </a:rPr>
              <a:t>fastMRI</a:t>
            </a:r>
            <a:r>
              <a:rPr lang="en-GB" sz="4000" dirty="0">
                <a:sym typeface="Wingdings" pitchFamily="2" charset="2"/>
              </a:rPr>
              <a:t> single-coil knees with matched real vs. complex U-Nets</a:t>
            </a:r>
            <a:endParaRPr lang="en-GB" sz="4000" dirty="0"/>
          </a:p>
          <a:p>
            <a:r>
              <a:rPr lang="en-GB" sz="4800" b="1" dirty="0"/>
              <a:t>Method</a:t>
            </a:r>
          </a:p>
          <a:p>
            <a:pPr marL="1371600" indent="-1371600">
              <a:buFont typeface="+mj-lt"/>
              <a:buAutoNum type="arabicPeriod"/>
            </a:pPr>
            <a:r>
              <a:rPr lang="en-GB" sz="4000" b="1" dirty="0">
                <a:sym typeface="Wingdings" pitchFamily="2" charset="2"/>
              </a:rPr>
              <a:t>Data</a:t>
            </a:r>
            <a:r>
              <a:rPr lang="en-GB" sz="4000" dirty="0">
                <a:sym typeface="Wingdings" pitchFamily="2" charset="2"/>
              </a:rPr>
              <a:t>: </a:t>
            </a:r>
            <a:r>
              <a:rPr lang="en-GB" sz="4000" dirty="0" err="1">
                <a:sym typeface="Wingdings" pitchFamily="2" charset="2"/>
              </a:rPr>
              <a:t>fastMRI</a:t>
            </a:r>
            <a:r>
              <a:rPr lang="en-GB" sz="4000" dirty="0">
                <a:sym typeface="Wingdings" pitchFamily="2" charset="2"/>
              </a:rPr>
              <a:t> single-coil knees; </a:t>
            </a:r>
            <a:r>
              <a:rPr lang="en-GB" sz="4000" dirty="0" err="1">
                <a:sym typeface="Wingdings" pitchFamily="2" charset="2"/>
              </a:rPr>
              <a:t>equispaced</a:t>
            </a:r>
            <a:r>
              <a:rPr lang="en-GB" sz="4000" dirty="0">
                <a:sym typeface="Wingdings" pitchFamily="2" charset="2"/>
              </a:rPr>
              <a:t> mask with ACS=20 at R=6; slice-wise max-mag normalization</a:t>
            </a:r>
          </a:p>
          <a:p>
            <a:pPr marL="1371600" indent="-1371600">
              <a:buFont typeface="+mj-lt"/>
              <a:buAutoNum type="arabicPeriod"/>
            </a:pPr>
            <a:r>
              <a:rPr lang="en-GB" sz="4000" b="1" dirty="0">
                <a:sym typeface="Wingdings" pitchFamily="2" charset="2"/>
              </a:rPr>
              <a:t>Models</a:t>
            </a:r>
            <a:r>
              <a:rPr lang="en-GB" sz="4000" dirty="0">
                <a:sym typeface="Wingdings" pitchFamily="2" charset="2"/>
              </a:rPr>
              <a:t>: real U-Net (width×1.42) vs. complex U-Net (widths [16,32,64,128,256]); both ~12.6M params</a:t>
            </a:r>
          </a:p>
          <a:p>
            <a:pPr marL="1371600" indent="-1371600">
              <a:buFont typeface="+mj-lt"/>
              <a:buAutoNum type="arabicPeriod"/>
            </a:pPr>
            <a:r>
              <a:rPr lang="en-GB" sz="4000" b="1" dirty="0">
                <a:sym typeface="Wingdings" pitchFamily="2" charset="2"/>
              </a:rPr>
              <a:t>Training</a:t>
            </a:r>
            <a:r>
              <a:rPr lang="en-GB" sz="4000" dirty="0">
                <a:sym typeface="Wingdings" pitchFamily="2" charset="2"/>
              </a:rPr>
              <a:t>: Adam 1e-3, batch 2, 12 epochs (~50k steps), 8,192 train / 1,024 </a:t>
            </a:r>
            <a:r>
              <a:rPr lang="en-GB" sz="4000" dirty="0" err="1">
                <a:sym typeface="Wingdings" pitchFamily="2" charset="2"/>
              </a:rPr>
              <a:t>val</a:t>
            </a:r>
            <a:r>
              <a:rPr lang="en-GB" sz="4000" dirty="0">
                <a:sym typeface="Wingdings" pitchFamily="2" charset="2"/>
              </a:rPr>
              <a:t> slices, fixed seeds/masks</a:t>
            </a:r>
            <a:endParaRPr lang="en-GB" sz="4800" dirty="0">
              <a:sym typeface="Wingdings" pitchFamily="2" charset="2"/>
            </a:endParaRPr>
          </a:p>
          <a:p>
            <a:r>
              <a:rPr lang="en-GB" sz="4800" b="1" dirty="0"/>
              <a:t>Result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en-GB" sz="4000" b="1" dirty="0">
                <a:sym typeface="Wingdings" pitchFamily="2" charset="2"/>
              </a:rPr>
              <a:t>Complex</a:t>
            </a:r>
            <a:r>
              <a:rPr lang="en-GB" sz="4000" dirty="0">
                <a:sym typeface="Wingdings" pitchFamily="2" charset="2"/>
              </a:rPr>
              <a:t> U-Net </a:t>
            </a:r>
            <a:r>
              <a:rPr lang="en-GB" sz="4000" b="1" dirty="0">
                <a:sym typeface="Wingdings" pitchFamily="2" charset="2"/>
              </a:rPr>
              <a:t>slightly outperforms </a:t>
            </a:r>
            <a:r>
              <a:rPr lang="en-GB" sz="4000" dirty="0">
                <a:sym typeface="Wingdings" pitchFamily="2" charset="2"/>
              </a:rPr>
              <a:t>real counterpart (see tables/figures)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en-GB" sz="4000" dirty="0">
                <a:sym typeface="Wingdings" pitchFamily="2" charset="2"/>
              </a:rPr>
              <a:t>Results directly </a:t>
            </a:r>
            <a:r>
              <a:rPr lang="en-GB" sz="4000" b="1" dirty="0">
                <a:sym typeface="Wingdings" pitchFamily="2" charset="2"/>
              </a:rPr>
              <a:t>compare lowest L1 loss checkpoint</a:t>
            </a:r>
            <a:r>
              <a:rPr lang="en-GB" sz="4000" dirty="0"/>
              <a:t> </a:t>
            </a:r>
          </a:p>
          <a:p>
            <a:r>
              <a:rPr lang="en-GB" sz="4800" b="1" dirty="0"/>
              <a:t>Discussion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en-GB" sz="4000" dirty="0">
                <a:sym typeface="Wingdings" pitchFamily="2" charset="2"/>
              </a:rPr>
              <a:t>Complex U-Net delivers a </a:t>
            </a:r>
            <a:r>
              <a:rPr lang="en-GB" sz="4000" b="1" dirty="0">
                <a:sym typeface="Wingdings" pitchFamily="2" charset="2"/>
              </a:rPr>
              <a:t>modest but consistent</a:t>
            </a:r>
            <a:r>
              <a:rPr lang="en-GB" sz="4000" dirty="0">
                <a:sym typeface="Wingdings" pitchFamily="2" charset="2"/>
              </a:rPr>
              <a:t> lift at matched capacity.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en-GB" sz="4000" b="1" dirty="0">
                <a:sym typeface="Wingdings" pitchFamily="2" charset="2"/>
              </a:rPr>
              <a:t>Scope differs slightly </a:t>
            </a:r>
            <a:r>
              <a:rPr lang="en-GB" sz="4000" dirty="0">
                <a:sym typeface="Wingdings" pitchFamily="2" charset="2"/>
              </a:rPr>
              <a:t>from Cole et al.: single subsampled dataset, simpler mask, only U-Net architecture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en-GB" sz="4000" dirty="0">
                <a:sym typeface="Wingdings" pitchFamily="2" charset="2"/>
              </a:rPr>
              <a:t>Complex U-Net still </a:t>
            </a:r>
            <a:r>
              <a:rPr lang="en-GB" sz="4000" b="1" dirty="0">
                <a:sym typeface="Wingdings" pitchFamily="2" charset="2"/>
              </a:rPr>
              <a:t>significantly slower</a:t>
            </a:r>
            <a:r>
              <a:rPr lang="en-GB" sz="4000" dirty="0">
                <a:sym typeface="Wingdings" pitchFamily="2" charset="2"/>
              </a:rPr>
              <a:t> due to more involved operations</a:t>
            </a:r>
            <a:endParaRPr lang="en-GB" sz="4800" dirty="0"/>
          </a:p>
          <a:p>
            <a:endParaRPr lang="en-GB" sz="4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14BBEB-64B9-424D-9998-D45C34F7DE4E}"/>
              </a:ext>
            </a:extLst>
          </p:cNvPr>
          <p:cNvSpPr txBox="1"/>
          <p:nvPr/>
        </p:nvSpPr>
        <p:spPr>
          <a:xfrm>
            <a:off x="13974248" y="6181307"/>
            <a:ext cx="22813404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400" b="1" dirty="0">
                <a:solidFill>
                  <a:schemeClr val="bg1"/>
                </a:solidFill>
              </a:rPr>
              <a:t>Complex-valued U-Nets slightly outperform real ones at matched capacity in MRI reconstruction.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EE0EC6-3D4E-5544-893B-77B8C276D029}"/>
              </a:ext>
            </a:extLst>
          </p:cNvPr>
          <p:cNvSpPr txBox="1"/>
          <p:nvPr/>
        </p:nvSpPr>
        <p:spPr>
          <a:xfrm>
            <a:off x="41341991" y="1097280"/>
            <a:ext cx="9601200" cy="2449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Extra Figures </a:t>
            </a:r>
          </a:p>
          <a:p>
            <a:r>
              <a:rPr lang="en-GB" b="1" dirty="0"/>
              <a:t>&amp; Tables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D3EF773-0A0B-904B-A8BA-37FF8CF70350}"/>
              </a:ext>
            </a:extLst>
          </p:cNvPr>
          <p:cNvSpPr/>
          <p:nvPr/>
        </p:nvSpPr>
        <p:spPr>
          <a:xfrm>
            <a:off x="14310360" y="20909279"/>
            <a:ext cx="6120000" cy="6120000"/>
          </a:xfrm>
          <a:prstGeom prst="roundRect">
            <a:avLst/>
          </a:prstGeom>
          <a:solidFill>
            <a:schemeClr val="tx1">
              <a:alpha val="9000"/>
            </a:schemeClr>
          </a:solidFill>
          <a:ln w="355600">
            <a:solidFill>
              <a:schemeClr val="tx1">
                <a:alpha val="17023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D073ED-4F8A-A04A-9E3D-E2C5EE60FF7E}"/>
              </a:ext>
            </a:extLst>
          </p:cNvPr>
          <p:cNvSpPr txBox="1"/>
          <p:nvPr/>
        </p:nvSpPr>
        <p:spPr>
          <a:xfrm>
            <a:off x="14824506" y="27314564"/>
            <a:ext cx="1385873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>
                <a:solidFill>
                  <a:srgbClr val="A5CDF7"/>
                </a:solidFill>
              </a:rPr>
              <a:t>Scan to </a:t>
            </a:r>
          </a:p>
          <a:p>
            <a:r>
              <a:rPr lang="en-GB" sz="4800" dirty="0">
                <a:solidFill>
                  <a:srgbClr val="A5CDF7"/>
                </a:solidFill>
              </a:rPr>
              <a:t>See GitHub repo (poster at report/</a:t>
            </a:r>
            <a:r>
              <a:rPr lang="en-GB" sz="4800" dirty="0" err="1">
                <a:solidFill>
                  <a:srgbClr val="A5CDF7"/>
                </a:solidFill>
              </a:rPr>
              <a:t>betterposter</a:t>
            </a:r>
            <a:r>
              <a:rPr lang="en-GB" sz="4800" dirty="0">
                <a:solidFill>
                  <a:srgbClr val="A5CDF7"/>
                </a:solidFill>
              </a:rPr>
              <a:t>)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65B3CA01-7D30-7249-9814-F028664CFE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841824" y="21426883"/>
            <a:ext cx="5057072" cy="5057072"/>
          </a:xfrm>
          <a:prstGeom prst="rect">
            <a:avLst/>
          </a:prstGeom>
        </p:spPr>
      </p:pic>
      <p:pic>
        <p:nvPicPr>
          <p:cNvPr id="4" name="Picture 3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4B275CAE-C1E3-D25E-47DF-C27B872271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40679" y="4567791"/>
            <a:ext cx="10674029" cy="3227032"/>
          </a:xfrm>
          <a:prstGeom prst="rect">
            <a:avLst/>
          </a:prstGeom>
        </p:spPr>
      </p:pic>
      <p:pic>
        <p:nvPicPr>
          <p:cNvPr id="9" name="Picture 8" descr="A graph of loss and loss&#10;&#10;AI-generated content may be incorrect.">
            <a:extLst>
              <a:ext uri="{FF2B5EF4-FFF2-40B4-BE49-F238E27FC236}">
                <a16:creationId xmlns:a16="http://schemas.microsoft.com/office/drawing/2014/main" id="{9FA76FF4-46BB-AE43-EB3F-90018492F88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49205"/>
          <a:stretch>
            <a:fillRect/>
          </a:stretch>
        </p:blipFill>
        <p:spPr>
          <a:xfrm>
            <a:off x="40833874" y="7692220"/>
            <a:ext cx="8465510" cy="5555353"/>
          </a:xfrm>
          <a:prstGeom prst="rect">
            <a:avLst/>
          </a:prstGeom>
        </p:spPr>
      </p:pic>
      <p:pic>
        <p:nvPicPr>
          <p:cNvPr id="10" name="Picture 9" descr="A graph of loss and loss&#10;&#10;AI-generated content may be incorrect.">
            <a:extLst>
              <a:ext uri="{FF2B5EF4-FFF2-40B4-BE49-F238E27FC236}">
                <a16:creationId xmlns:a16="http://schemas.microsoft.com/office/drawing/2014/main" id="{1F10023B-7D3E-95BC-ED7C-1291FC63E4B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0977"/>
          <a:stretch>
            <a:fillRect/>
          </a:stretch>
        </p:blipFill>
        <p:spPr>
          <a:xfrm>
            <a:off x="41210251" y="13188507"/>
            <a:ext cx="8465510" cy="575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640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</TotalTime>
  <Words>206</Words>
  <Application>Microsoft Macintosh PowerPoint</Application>
  <PresentationFormat>Custom</PresentationFormat>
  <Paragraphs>24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Wingdings</vt:lpstr>
      <vt:lpstr>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Fabio C</dc:creator>
  <cp:lastModifiedBy>Giovanni De Geronimo</cp:lastModifiedBy>
  <cp:revision>20</cp:revision>
  <dcterms:created xsi:type="dcterms:W3CDTF">2019-03-03T08:35:39Z</dcterms:created>
  <dcterms:modified xsi:type="dcterms:W3CDTF">2025-11-24T18:56:49Z</dcterms:modified>
</cp:coreProperties>
</file>